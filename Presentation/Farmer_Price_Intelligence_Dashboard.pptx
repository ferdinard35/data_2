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258" r:id="rId5"/>
    <p:sldId id="259" r:id="rId6"/>
    <p:sldId id="260" r:id="rId7"/>
    <p:sldId id="267" r:id="rId8"/>
    <p:sldId id="266" r:id="rId9"/>
    <p:sldId id="261" r:id="rId10"/>
    <p:sldId id="268" r:id="rId11"/>
    <p:sldId id="262" r:id="rId12"/>
    <p:sldId id="263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372" autoAdjust="0"/>
  </p:normalViewPr>
  <p:slideViewPr>
    <p:cSldViewPr snapToGrid="0" snapToObjects="1">
      <p:cViewPr>
        <p:scale>
          <a:sx n="74" d="100"/>
          <a:sy n="74" d="100"/>
        </p:scale>
        <p:origin x="10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>
        <p:scale>
          <a:sx n="14" d="100"/>
          <a:sy n="14" d="100"/>
        </p:scale>
        <p:origin x="3564" y="11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25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180D-52C8-2F46-5224-46DF6661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410E0-5C98-271E-6E34-65724C807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BFBC0-C8C1-B5AF-75B1-431B4EB3E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D8E2A-FC7A-B6F2-0DC3-871CC66BF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57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8BD33-996D-7F8C-7A84-C76E3BB7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BB7FC-5CBE-7105-5063-E832E06B5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DE1DC-B537-EC8D-E2C8-61C7AC503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76DF4-4D5B-F600-2446-AF75660E17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76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C205A-00AA-6FBA-FC93-EF6009D77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F10B0-E0DB-35C5-4D1E-BDC7F265E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ACFF5-7E3E-4D3A-8FFC-90B728C69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E436D-FBCB-0E24-0D3F-0DD355FE12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87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Pearson correlation (r) measures how closely the prices of two commodities move together over time and across markets. A value of +1 means they move perfectly together, values between +0.8 and +0.99 indicate a very strong positive relationship, while 0 means there is no linear relationship between their price movements.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31E82-9797-2D4B-CF7E-09269432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3FA8A-6CE1-3C8C-7C84-C06622240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C43DF-499A-8E07-EB67-2678C1E7E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Pearson correlation (r) measures how closely the prices of two commodities move together over time and across markets. A value of +1 means they move perfectly together, values between +0.8 and +0.99 indicate a very strong positive relationship, while 0 means there is no linear relationship between their price movements.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3032E-22E9-31FB-8AA4-1D0194A79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65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Farmer Price Intelligence Dashboard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FB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Ghanaian Smallholder Farmers Through Data-Driven Price Transparency &amp; Regional Arbitrage Analytics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Data 2 • AmaliTech Capstone Internship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57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$1.9B Annual Economic Loss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Challenge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Ghana loses approximately $1.9 Billion annually due to post-harvest losses and market access inefficiencies (World Food Programme).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Reality for Smallholder Farmers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Rural farmers produce plantain, yam, cassava, maize without visibility into urban wholesale prices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992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They sell to local middlemen at heavily discounted rates without knowing true market values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4670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Information asymmetry costs farmers thousands in lost revenue per harvest season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941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05656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yam farmer in Techiman sells 50 bags at GH₵500/bag (GH₵25,000 total). The same yams sell in Greater Accra for GH₵750/bag (GH₵37,500). Lost revenue: GH₵12,500 per farmer, per season.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125691" y="4846320"/>
            <a:ext cx="92686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468CB-8064-8880-C39C-9B2F8FFCA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AAACEC-C318-911C-D26F-106FFB8ABD14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48B8EF-7950-D7CF-2F6E-DA85A0DF8D60}"/>
              </a:ext>
            </a:extLst>
          </p:cNvPr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A7E798-F542-04DF-4A5E-7A1A3F139937}"/>
              </a:ext>
            </a:extLst>
          </p:cNvPr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DATA 2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64E967-A325-8A6B-60A1-CD3119AD43AC}"/>
              </a:ext>
            </a:extLst>
          </p:cNvPr>
          <p:cNvSpPr txBox="1"/>
          <p:nvPr/>
        </p:nvSpPr>
        <p:spPr>
          <a:xfrm>
            <a:off x="457200" y="123194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5F3F"/>
                </a:solidFill>
                <a:latin typeface="Segoe UI" pitchFamily="34" charset="0"/>
                <a:cs typeface="Segoe UI" pitchFamily="34" charset="-120"/>
              </a:rPr>
              <a:t>Members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F14EBDD-E025-D903-E5FE-7F98ECEDFC82}"/>
              </a:ext>
            </a:extLst>
          </p:cNvPr>
          <p:cNvSpPr txBox="1"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873B06-0EEF-E2DB-8966-B4069E2DBC02}"/>
              </a:ext>
            </a:extLst>
          </p:cNvPr>
          <p:cNvSpPr txBox="1"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D1A42D-DC0F-CCB8-7B3A-99641E068A1C}"/>
              </a:ext>
            </a:extLst>
          </p:cNvPr>
          <p:cNvSpPr txBox="1"/>
          <p:nvPr/>
        </p:nvSpPr>
        <p:spPr>
          <a:xfrm>
            <a:off x="8125691" y="4846320"/>
            <a:ext cx="92686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9871948E-037A-DD4B-BE11-699D312BF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47755"/>
            <a:ext cx="7435369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Elvis Frimpong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— Team Lead &amp; Dashboard Developer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Emmanuel Quarshie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— Foundations (Presentation &amp; Documentation)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Ferdinand </a:t>
            </a:r>
            <a:r>
              <a:rPr kumimoji="0" lang="en-GH" altLang="en-GH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Afful</a:t>
            </a:r>
            <a:r>
              <a:rPr kumimoji="0" lang="en-GH" altLang="en-G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Bentum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— Foundations (Research &amp; KPI Analysis)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Fuseini</a:t>
            </a:r>
            <a:r>
              <a:rPr kumimoji="0" lang="en-GH" altLang="en-G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Suleyman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— Builder (Dashboard Development)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Leon </a:t>
            </a:r>
            <a:r>
              <a:rPr kumimoji="0" lang="en-GH" altLang="en-GH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Kimene</a:t>
            </a:r>
            <a:r>
              <a:rPr kumimoji="0" lang="en-GH" altLang="en-G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GH" altLang="en-GH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Ibobi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— Foundations (Data Cleaning &amp; Validation)</a:t>
            </a:r>
            <a:endParaRPr kumimoji="0" lang="en-GH" altLang="en-GH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19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Overview &amp; Core Questions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Dashboard Does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interactive Power BI tool providing real-time commodity price visibility, regional price comparisons, and decision-support analytics across 36 markets in Ghana.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Core Questions Answered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Income Impact: How much revenue am I leaving on the table locally?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077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Regional Arbitrage: What is my ROI if I transport produce to high-value markets?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552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Seasonal Timing: Which months offer peak pricing for my crop?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0273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Smart Recommendations: Where should I sell right now to maximize returns?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502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3616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Pure Price-Only Scope: All metrics show gross commodity value (Phase 1 excludes transport costs)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09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Standardized Units: All commodities evaluated on a per-bag metric for consistent comparison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57309" y="4846320"/>
            <a:ext cx="79525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 &amp; Methodology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417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Primary: MoFA SRID Agricultural Commodity Prices (36 markets, 76 commodities)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647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Secondary: Ghana Open Data Portal, World Bank, Ghana Statistical Service (GSS)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122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237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ETL/EDA: Python (Pandas, NumPy, Seaborn, Matplotlib)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7121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Dashboard: Power BI Desktop &amp; Web with DAX modeling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186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Version Control: GitHub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Data Cleaning Pipeline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77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Name Standardization: Cleaned inconsistent market and crop naming across regions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251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Imputation: Regional median prices used to handle missing values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7258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Unit Standardization: Converted all package types to uniform per-bag metrics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43455" y="4846320"/>
            <a:ext cx="80910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Architecture &amp; KPI Formulations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0534" y="808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Core KPIs Delivered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11836" y="4892040"/>
            <a:ext cx="94072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2B2FD420-37C4-4428-C33C-F0BD82453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33" y="1091167"/>
            <a:ext cx="7853003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Average Price (GH₵)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wholesale price per bag across selected markets.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Average Price = Total Wholesale Prices ÷ Total Market Listings</a:t>
            </a:r>
            <a:endParaRPr kumimoji="0" lang="en-GH" altLang="en-GH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Minimum &amp; Maximum Price (GH₵)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lowest and highest wholesale prices recorded across all 36 regional markets.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Minimum Price = Lowest Market Price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Maximum Price = Highest Market Price</a:t>
            </a:r>
            <a:endParaRPr kumimoji="0" lang="en-GH" altLang="en-GH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Price Spread (GH₵)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difference in price per bag between the highest-priced and lowest-priced markets.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Price Spread = Maximum Price − Minimum Price</a:t>
            </a:r>
            <a:endParaRPr kumimoji="0" lang="en-GH" altLang="en-GH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Farmer Income Impact (GH₵)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potential additional income a farmer could earn by selling in the highest-priced market instead of the lowest-priced market.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Income Impact = Price Spread × Harvest Volume (Bags)</a:t>
            </a:r>
            <a:endParaRPr kumimoji="0" lang="en-GH" altLang="en-GH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Regional Arbitrage Gain (%)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percentage increase in revenue that could be achieved by moving produce from the lowest-priced market to the highest-priced market.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Formula: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Arbitrage Gain = [(Maximum Price − Minimum Price) ÷ Minimum Price] × 100</a:t>
            </a:r>
            <a:endParaRPr kumimoji="0" lang="en-GH" altLang="en-GH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Smart Recommendation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automated market recommendation identifying the </a:t>
            </a: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available market and potential additional earnings per bag</a:t>
            </a: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GH" altLang="en-GH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Sell in Tema Community One Main Market at GH₵666.67/bag. Potential gain: +GH₵665.77/bag.</a:t>
            </a:r>
            <a:endParaRPr kumimoji="0" lang="en-GH" altLang="en-GH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CB1C7-51ED-7A20-FA83-A83195D5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0EAC5A-99F9-38E5-4E28-F0E3EC0DDCC7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F8F2F0-BD18-B921-E0A1-BF90991A53C3}"/>
              </a:ext>
            </a:extLst>
          </p:cNvPr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0DBEAF8-8C43-3550-69C5-D26183F831CB}"/>
              </a:ext>
            </a:extLst>
          </p:cNvPr>
          <p:cNvSpPr txBox="1"/>
          <p:nvPr/>
        </p:nvSpPr>
        <p:spPr>
          <a:xfrm>
            <a:off x="8111836" y="4892040"/>
            <a:ext cx="94072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AD31CB-09AC-E724-7618-A44FB3892E4A}"/>
              </a:ext>
            </a:extLst>
          </p:cNvPr>
          <p:cNvSpPr txBox="1"/>
          <p:nvPr/>
        </p:nvSpPr>
        <p:spPr>
          <a:xfrm>
            <a:off x="213360" y="104150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H" altLang="en-GH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Regional Arbitrage Gain (%)</a:t>
            </a:r>
            <a:endParaRPr lang="en-GH" sz="2800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A79385-7E68-DF12-B99C-8AF99D697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997608"/>
              </p:ext>
            </p:extLst>
          </p:nvPr>
        </p:nvGraphicFramePr>
        <p:xfrm>
          <a:off x="137160" y="2902168"/>
          <a:ext cx="7886700" cy="137160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738312996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861539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900" b="1"/>
                        <a:t>Metric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Value</a:t>
                      </a:r>
                      <a:endParaRPr 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22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Local Market — Takoradi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GH₵280/bag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705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dirty="0"/>
                        <a:t>Peak Market — Accra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GH₵450/bag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873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/>
                        <a:t>Price Spread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GH₵170/bag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908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/>
                        <a:t>Proportion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H" sz="900"/>
                        <a:t>0.6071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445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900" b="1" dirty="0"/>
                        <a:t>Arbitrage Gain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H" sz="900" b="1" dirty="0"/>
                        <a:t>60.71%</a:t>
                      </a:r>
                      <a:endParaRPr lang="en-GH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67086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31ADCD2F-B53A-8154-D72C-F0D76F155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7096"/>
            <a:ext cx="8975534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the percentage increase in gross revenue a farmer could achieve by moving produce from a lower-priced local market to a higher-priced urban or regional market.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Arbitrage Gain (%) = [(Maximum Price − Minimum Price) ÷ Minimum Price] × 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Step-by-Step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Calculate the Price Spread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extra cash earned per bag.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 Cash per Bag = Maximum Price − Minimum Price</a:t>
            </a:r>
            <a:endParaRPr kumimoji="0" lang="en-GH" altLang="en-GH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Calculate the Proportion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the additional earnings with the original local market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Proportion = Extra Cash per Bag ÷ Minimum Price</a:t>
            </a:r>
            <a:endParaRPr kumimoji="0" lang="en-GH" altLang="en-GH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Convert to Percentage</a:t>
            </a:r>
            <a:b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Multiply the proportion by 100.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Arbitrage Gain (%) = Proportion × 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D32930-368B-DE0C-266C-9F3B881F8843}"/>
              </a:ext>
            </a:extLst>
          </p:cNvPr>
          <p:cNvSpPr txBox="1"/>
          <p:nvPr/>
        </p:nvSpPr>
        <p:spPr>
          <a:xfrm>
            <a:off x="137160" y="271112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endParaRPr lang="en-GH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C8E34-103C-9A6C-F07A-839CA2B7AA0D}"/>
              </a:ext>
            </a:extLst>
          </p:cNvPr>
          <p:cNvSpPr txBox="1"/>
          <p:nvPr/>
        </p:nvSpPr>
        <p:spPr>
          <a:xfrm>
            <a:off x="137160" y="4273768"/>
            <a:ext cx="737302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farmer selling in Accra instead of Takoradi could generate </a:t>
            </a: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60.71% more gross revenue per bag</a:t>
            </a: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accounting for transportation and other selling costs</a:t>
            </a: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Insight:</a:t>
            </a: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60.71% figure represents the </a:t>
            </a:r>
            <a:r>
              <a:rPr kumimoji="0" lang="en-GH" altLang="en-GH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gross revenue difference</a:t>
            </a:r>
            <a:r>
              <a:rPr kumimoji="0" lang="en-GH" altLang="en-GH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the farmer's final profit.</a:t>
            </a:r>
          </a:p>
          <a:p>
            <a:endParaRPr lang="en-GH" sz="900" dirty="0"/>
          </a:p>
        </p:txBody>
      </p:sp>
    </p:spTree>
    <p:extLst>
      <p:ext uri="{BB962C8B-B14F-4D97-AF65-F5344CB8AC3E}">
        <p14:creationId xmlns:p14="http://schemas.microsoft.com/office/powerpoint/2010/main" val="2465948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3D8DA-D8AD-6AE6-A087-FA3650695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FB55F1-F1E9-EA61-FB41-7B705EA78A3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086E05-09A1-4BD2-DFEF-194CABDE1C6C}"/>
              </a:ext>
            </a:extLst>
          </p:cNvPr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E2ACC4-9784-9657-50A5-03E38D82D409}"/>
              </a:ext>
            </a:extLst>
          </p:cNvPr>
          <p:cNvSpPr txBox="1"/>
          <p:nvPr/>
        </p:nvSpPr>
        <p:spPr>
          <a:xfrm>
            <a:off x="457199" y="217102"/>
            <a:ext cx="8595359" cy="3772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Deep Dive: Commodity Co-Movement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D57AFF-7E93-90A8-324D-1CC16407E6E7}"/>
              </a:ext>
            </a:extLst>
          </p:cNvPr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A1C5F8-C964-E3D1-EA75-AA05F579BE2A}"/>
              </a:ext>
            </a:extLst>
          </p:cNvPr>
          <p:cNvSpPr txBox="1"/>
          <p:nvPr/>
        </p:nvSpPr>
        <p:spPr>
          <a:xfrm>
            <a:off x="548640" y="18836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2E7ACE3-1FC9-0597-F73A-D92A8AF1EAF5}"/>
              </a:ext>
            </a:extLst>
          </p:cNvPr>
          <p:cNvSpPr txBox="1"/>
          <p:nvPr/>
        </p:nvSpPr>
        <p:spPr>
          <a:xfrm>
            <a:off x="640080" y="22951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AD91F11-DD83-9C9C-55A1-7574BB414613}"/>
              </a:ext>
            </a:extLst>
          </p:cNvPr>
          <p:cNvSpPr txBox="1"/>
          <p:nvPr/>
        </p:nvSpPr>
        <p:spPr>
          <a:xfrm>
            <a:off x="822960" y="2992443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238F65C-825B-4870-94F6-D68F98911C80}"/>
              </a:ext>
            </a:extLst>
          </p:cNvPr>
          <p:cNvSpPr txBox="1"/>
          <p:nvPr/>
        </p:nvSpPr>
        <p:spPr>
          <a:xfrm>
            <a:off x="457200" y="3162161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BF7D42-F3EE-9A9E-26E6-E4CD83EE9DE7}"/>
              </a:ext>
            </a:extLst>
          </p:cNvPr>
          <p:cNvSpPr txBox="1"/>
          <p:nvPr/>
        </p:nvSpPr>
        <p:spPr>
          <a:xfrm>
            <a:off x="8250382" y="4876800"/>
            <a:ext cx="802178" cy="152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  <p:pic>
        <p:nvPicPr>
          <p:cNvPr id="18" name="Picture 17" descr="A chart of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A89EFF92-2411-9FAF-8153-5277B5A46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6" y="874154"/>
            <a:ext cx="8969433" cy="33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7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 txBox="1"/>
          <p:nvPr/>
        </p:nvSpPr>
        <p:spPr>
          <a:xfrm>
            <a:off x="457200" y="221672"/>
            <a:ext cx="8470900" cy="372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Deep Dive: Commodity Co-Movement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7160" y="84963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 1: Strong Price Correlations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" y="1118557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commodity pairs move in near-perfect synchronization (r ≈ 1.0), revealing deep market interconnectedness.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2561" y="16846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Correlated Commodity Pairs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50382" y="4876800"/>
            <a:ext cx="802178" cy="152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9D476A-5E5B-2A7C-F10F-BFB9757E3B20}"/>
              </a:ext>
            </a:extLst>
          </p:cNvPr>
          <p:cNvSpPr txBox="1"/>
          <p:nvPr/>
        </p:nvSpPr>
        <p:spPr>
          <a:xfrm>
            <a:off x="301924" y="2123134"/>
            <a:ext cx="82986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Dried Cassava Powder (</a:t>
            </a:r>
            <a:r>
              <a:rPr lang="en-US" sz="1400" b="1" dirty="0" err="1"/>
              <a:t>Kokonte</a:t>
            </a:r>
            <a:r>
              <a:rPr lang="en-US" sz="1400" b="1" dirty="0"/>
              <a:t>) &amp; Pork</a:t>
            </a:r>
            <a:r>
              <a:rPr lang="en-US" sz="1400" dirty="0"/>
              <a:t> — </a:t>
            </a:r>
            <a:r>
              <a:rPr lang="en-US" sz="1400" i="1" dirty="0"/>
              <a:t>r = 1.0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Mango Local &amp; White Maize</a:t>
            </a:r>
            <a:r>
              <a:rPr lang="en-US" sz="1400" dirty="0"/>
              <a:t> — </a:t>
            </a:r>
            <a:r>
              <a:rPr lang="en-US" sz="1400" i="1" dirty="0"/>
              <a:t>r = 1.0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Mango Local &amp; Tomato Local</a:t>
            </a:r>
            <a:r>
              <a:rPr lang="en-US" sz="1400" dirty="0"/>
              <a:t> — </a:t>
            </a:r>
            <a:r>
              <a:rPr lang="en-US" sz="1400" i="1" dirty="0"/>
              <a:t>r = 1.0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Melon Seeds (</a:t>
            </a:r>
            <a:r>
              <a:rPr lang="en-US" sz="1400" b="1" dirty="0" err="1"/>
              <a:t>Agushi</a:t>
            </a:r>
            <a:r>
              <a:rPr lang="en-US" sz="1400" b="1" dirty="0"/>
              <a:t> Powder) &amp; Sweet Potato</a:t>
            </a:r>
            <a:r>
              <a:rPr lang="en-US" sz="1400" dirty="0"/>
              <a:t> — </a:t>
            </a:r>
            <a:r>
              <a:rPr lang="en-US" sz="1400" i="1" dirty="0"/>
              <a:t>r = 1.0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Mango Local &amp; Watermelon</a:t>
            </a:r>
            <a:r>
              <a:rPr lang="en-US" sz="1400" dirty="0"/>
              <a:t> — </a:t>
            </a:r>
            <a:r>
              <a:rPr lang="en-US" sz="1400" i="1" dirty="0"/>
              <a:t>r = 1.0</a:t>
            </a:r>
            <a:r>
              <a:rPr lang="en-US" sz="1400" dirty="0"/>
              <a:t> </a:t>
            </a:r>
          </a:p>
          <a:p>
            <a:r>
              <a:rPr lang="en-US" sz="1400" b="1" dirty="0"/>
              <a:t>Core Explanation</a:t>
            </a:r>
          </a:p>
          <a:p>
            <a:r>
              <a:rPr lang="en-US" sz="1400" dirty="0"/>
              <a:t>These pairs show </a:t>
            </a:r>
            <a:r>
              <a:rPr lang="en-US" sz="1400" b="1" dirty="0"/>
              <a:t>perfect correlation (r = 1.0)</a:t>
            </a:r>
            <a:r>
              <a:rPr lang="en-US" sz="1400" dirty="0"/>
              <a:t> because they experience similar </a:t>
            </a:r>
            <a:r>
              <a:rPr lang="en-US" sz="1400" b="1" dirty="0"/>
              <a:t>harvest and supply cycles, synchronized market arrivals, and similar responses to regional supply and pricing changes</a:t>
            </a:r>
            <a:r>
              <a:rPr lang="en-US" sz="1400" dirty="0"/>
              <a:t> across the 36 markets.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BC010-F4BC-B9CC-8DB5-B489F6F4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0C46C3-0641-C990-2D75-F14679EA9697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195C22-500D-5DC8-48BB-CB27152A2CCA}"/>
              </a:ext>
            </a:extLst>
          </p:cNvPr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F9DA86-A948-CE2F-9431-FF4B1C2552A2}"/>
              </a:ext>
            </a:extLst>
          </p:cNvPr>
          <p:cNvSpPr txBox="1"/>
          <p:nvPr/>
        </p:nvSpPr>
        <p:spPr>
          <a:xfrm>
            <a:off x="457200" y="221672"/>
            <a:ext cx="8470900" cy="372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Deep Dive: Commodity Co-Movement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3371C36-284C-FABD-F2DC-287A2531AD7A}"/>
              </a:ext>
            </a:extLst>
          </p:cNvPr>
          <p:cNvSpPr txBox="1"/>
          <p:nvPr/>
        </p:nvSpPr>
        <p:spPr>
          <a:xfrm>
            <a:off x="137160" y="9609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 2: Strong Price Correlations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41CB50-8C65-E4EA-F88E-A9A2C7DBCC1F}"/>
              </a:ext>
            </a:extLst>
          </p:cNvPr>
          <p:cNvSpPr txBox="1"/>
          <p:nvPr/>
        </p:nvSpPr>
        <p:spPr>
          <a:xfrm>
            <a:off x="241539" y="114383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commodity pairs move in near-perfect synchronization (r ≈ 1.0), revealing deep market interconnectedness.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6FB045-5145-1A7C-5AAB-C55B2289E902}"/>
              </a:ext>
            </a:extLst>
          </p:cNvPr>
          <p:cNvSpPr txBox="1"/>
          <p:nvPr/>
        </p:nvSpPr>
        <p:spPr>
          <a:xfrm>
            <a:off x="137160" y="1752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Ginger Co-Movement Insights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FA42202-FD79-5F36-EEA5-5CCBB93727FA}"/>
              </a:ext>
            </a:extLst>
          </p:cNvPr>
          <p:cNvSpPr txBox="1"/>
          <p:nvPr/>
        </p:nvSpPr>
        <p:spPr>
          <a:xfrm>
            <a:off x="8250382" y="4876800"/>
            <a:ext cx="802178" cy="152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9D4BDD-A9DE-3A5C-12D2-F116D0ABD8A3}"/>
              </a:ext>
            </a:extLst>
          </p:cNvPr>
          <p:cNvSpPr txBox="1"/>
          <p:nvPr/>
        </p:nvSpPr>
        <p:spPr>
          <a:xfrm>
            <a:off x="241539" y="2072640"/>
            <a:ext cx="72289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Ginger &amp; Mango Local</a:t>
            </a:r>
            <a:r>
              <a:rPr lang="en-US" sz="1600" dirty="0"/>
              <a:t> — </a:t>
            </a:r>
            <a:r>
              <a:rPr lang="en-US" sz="1600" i="1" dirty="0"/>
              <a:t>r = 1.000000</a:t>
            </a:r>
            <a:r>
              <a:rPr lang="en-U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Ginger &amp; Tiger Nut</a:t>
            </a:r>
            <a:r>
              <a:rPr lang="en-US" sz="1600" dirty="0"/>
              <a:t> — </a:t>
            </a:r>
            <a:r>
              <a:rPr lang="en-US" sz="1600" i="1" dirty="0"/>
              <a:t>r = 0.851004</a:t>
            </a:r>
            <a:r>
              <a:rPr lang="en-U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Ginger &amp; Sorghum</a:t>
            </a:r>
            <a:r>
              <a:rPr lang="en-US" sz="1600" dirty="0"/>
              <a:t> — </a:t>
            </a:r>
            <a:r>
              <a:rPr lang="en-US" sz="1600" i="1" dirty="0"/>
              <a:t>r = 0.829429</a:t>
            </a:r>
            <a:r>
              <a:rPr lang="en-U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Ginger &amp; Groundnut Oil</a:t>
            </a:r>
            <a:r>
              <a:rPr lang="en-US" sz="1600" dirty="0"/>
              <a:t> — </a:t>
            </a:r>
            <a:r>
              <a:rPr lang="en-US" sz="1600" i="1" dirty="0"/>
              <a:t>r = 0.743576</a:t>
            </a:r>
            <a:r>
              <a:rPr lang="en-U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Ginger &amp; </a:t>
            </a:r>
            <a:r>
              <a:rPr lang="en-US" sz="1600" b="1" dirty="0" err="1"/>
              <a:t>Kako</a:t>
            </a:r>
            <a:r>
              <a:rPr lang="en-US" sz="1600" dirty="0"/>
              <a:t> — </a:t>
            </a:r>
            <a:r>
              <a:rPr lang="en-US" sz="1600" i="1" dirty="0"/>
              <a:t>r = 0.717720</a:t>
            </a:r>
            <a:r>
              <a:rPr lang="en-US" sz="1600" dirty="0"/>
              <a:t> </a:t>
            </a:r>
          </a:p>
          <a:p>
            <a:r>
              <a:rPr lang="en-US" sz="1600" b="1" dirty="0"/>
              <a:t>Core Explanation</a:t>
            </a:r>
          </a:p>
          <a:p>
            <a:r>
              <a:rPr lang="en-US" sz="1600" dirty="0"/>
              <a:t>Ginger shows </a:t>
            </a:r>
            <a:r>
              <a:rPr lang="en-US" sz="1600" b="1" dirty="0"/>
              <a:t>strong positive co-movement</a:t>
            </a:r>
            <a:r>
              <a:rPr lang="en-US" sz="1600" dirty="0"/>
              <a:t> with these commodities, likely reflecting </a:t>
            </a:r>
            <a:r>
              <a:rPr lang="en-US" sz="1600" b="1" dirty="0"/>
              <a:t>shared sourcing regions, overlapping trade routes, and similar market demand patterns</a:t>
            </a:r>
            <a:r>
              <a:rPr lang="en-US" sz="1600" dirty="0"/>
              <a:t>, which cause their wholesale prices to move in similar directions.</a:t>
            </a:r>
          </a:p>
        </p:txBody>
      </p:sp>
    </p:spTree>
    <p:extLst>
      <p:ext uri="{BB962C8B-B14F-4D97-AF65-F5344CB8AC3E}">
        <p14:creationId xmlns:p14="http://schemas.microsoft.com/office/powerpoint/2010/main" val="1228049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Scope, Technical Requirements &amp; Constraints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01782" y="80044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In-Scope Features (Delivered)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32015" y="110115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filtering by region, market, month, and commodity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15142" y="142119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volume slider for harvest calculations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15142" y="17753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KPI cards displaying Income Loss and Arbitrage Gain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5142" y="2030315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Smart Recommendation text box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01782" y="2368643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Explicitly Out of Scope for Phase 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5142" y="2787535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Predictive price forecasting models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15648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API web scraping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10603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Native mobile iOS/Android apps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30643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 profit calculations after transport costs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5142" y="410385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Connectivity &amp; Access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1782" y="4428053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Local Power BI Desktop: Offline viewing with pre-loaded data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44978" y="46863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 Dashboard: Requires active internet connection for interactions and updates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12975" y="4891694"/>
            <a:ext cx="839585" cy="137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Walkthrough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005840" y="1188720"/>
            <a:ext cx="7050578" cy="2974571"/>
          </a:xfrm>
          <a:prstGeom prst="rect">
            <a:avLst/>
          </a:prstGeom>
          <a:solidFill>
            <a:srgbClr val="F3F4F6"/>
          </a:solidFill>
          <a:ln w="381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 txBox="1"/>
          <p:nvPr/>
        </p:nvSpPr>
        <p:spPr>
          <a:xfrm>
            <a:off x="457200" y="248827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 Demonstration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3716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Roadmap: Phases 2-4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Net Profit Calculator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freight costs (GHS/km), road network distances, and toll tariffs for exact net arbitrage calculations after transport.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Mobile USSD/SMS Extension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feature-phone access for rural farmers without smartphones via basic SMS codes and USSD protocols.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4: Machine Learning Price Forecasting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time-series ARIMA/Prophet models for 2-4 week price trend forecasting, helping farmers plan ahead.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 Agriculture for Smallholder Prosperity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60327" y="4846320"/>
            <a:ext cx="89223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AMALITECH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1484</Words>
  <Application>Microsoft Office PowerPoint</Application>
  <PresentationFormat>On-screen Show (16:9)</PresentationFormat>
  <Paragraphs>153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Unicode MS</vt:lpstr>
      <vt:lpstr>Google Sans Text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FERDINARD AFFUL BENTUM</cp:lastModifiedBy>
  <cp:revision>4</cp:revision>
  <dcterms:created xsi:type="dcterms:W3CDTF">2026-09-24T11:31:36Z</dcterms:created>
  <dcterms:modified xsi:type="dcterms:W3CDTF">2026-09-24T12:32:57Z</dcterms:modified>
</cp:coreProperties>
</file>